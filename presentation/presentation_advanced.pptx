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Calibri"/>
              </a:defRPr>
            </a:pPr>
            <a:r>
              <a:t>Multi-Horizon Hazard Models for</a:t>
            </a:r>
            <a:br/>
            <a:r>
              <a:t>Battery Failure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Calibri"/>
              </a:defRPr>
            </a:pPr>
            <a:r>
              <a:t>Within-Dataset Reliability and Cross-Chemistry Transferability</a:t>
            </a:r>
            <a:br/>
            <a:br/>
            <a:r>
              <a:t>[Author Name] · [Affiliation]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48640"/>
            <a:ext cx="731520" cy="731520"/>
          </a:xfrm>
          <a:prstGeom prst="ellipse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69848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The original framework demonstrated feasibility — but several critical questions remain unanswered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Calibri"/>
              </a:defRPr>
            </a:pP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Shikdar &amp; Laaksonen (2026): multi-horizon hazard classification on NASA 18650 using HGB — AUC 0.87–0.90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Limited to one model class, one chemistry, no cross-dataset validation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Two open questions: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  1. How sensitive are results to model choice (XGBoost, LightGBM, RF) and calibration method?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  2. Do models trained on one chemistry (LCO) transfer to another (LFP)?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48640"/>
            <a:ext cx="731520" cy="731520"/>
          </a:xfrm>
          <a:prstGeom prst="ellipse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The Composite Failure Label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69848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Failure = SOH drop OR voltage sag. Both must cross a per-cell baseline.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Calibri"/>
              </a:defRPr>
            </a:pP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Two independent failure criteria — either triggers a positive label: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  • State-of-Health (SOH) ≤ 0.80 of initial capacity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  • Average voltage sag &lt; 94% of early-life baseline (first 10 cycles)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Once triggered, label remains positive for all subsequent cycles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Voltage sag catches impedance-driven failures that precede capacity fade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LFP cells: no useful voltage sag (flat plateau at 2.7 V cutoff)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48640"/>
            <a:ext cx="731520" cy="731520"/>
          </a:xfrm>
          <a:prstGeom prst="ellipse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Datasets &amp;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69848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37360"/>
          <a:ext cx="106984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5715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E24A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Cells</a:t>
                      </a:r>
                    </a:p>
                  </a:txBody>
                  <a:tcPr>
                    <a:solidFill>
                      <a:srgbClr val="E24A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Chemistry</a:t>
                      </a:r>
                    </a:p>
                  </a:txBody>
                  <a:tcPr>
                    <a:solidFill>
                      <a:srgbClr val="E24A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Total Cycles</a:t>
                      </a:r>
                    </a:p>
                  </a:txBody>
                  <a:tcPr>
                    <a:solidFill>
                      <a:srgbClr val="E24A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Cycles/Cell</a:t>
                      </a:r>
                    </a:p>
                  </a:txBody>
                  <a:tcPr>
                    <a:solidFill>
                      <a:srgbClr val="E24A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Profile</a:t>
                      </a:r>
                    </a:p>
                  </a:txBody>
                  <a:tcPr>
                    <a:solidFill>
                      <a:srgbClr val="E24A3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NASA 18650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~1,000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~300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Random walk, accelerated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CALCE LCO/CX2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LCO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8,733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775–1,952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1C/1C, slow degradation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Oxford LFP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LFP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~1,500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~300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1A1A2E"/>
                          </a:solidFill>
                          <a:latin typeface="Calibri"/>
                        </a:defRPr>
                      </a:pPr>
                      <a:r>
                        <a:t>1C/1C, very stable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29768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Calibri"/>
              </a:defRPr>
            </a:pPr>
            <a:r>
              <a:t>Models: XGBoost (depth=4, 300 trees, lr=0.05)  ·  LightGBM (depth=4, 300 trees, lr=0.05)  ·  Random Forest (depth=6, 300 trees)</a:t>
            </a:r>
          </a:p>
          <a:p>
            <a:pPr algn="l" lvl="1">
              <a:spcBef>
                <a:spcPts val="600"/>
              </a:spcBef>
              <a:defRPr sz="1400" b="0">
                <a:solidFill>
                  <a:srgbClr val="666666"/>
                </a:solidFill>
                <a:latin typeface="Calibri"/>
              </a:defRPr>
            </a:pPr>
            <a:r>
              <a:t>Features: cycle, avg/min voltage, avg current, avg temp, duration, SOH</a:t>
            </a:r>
          </a:p>
          <a:p>
            <a:pPr algn="l" lvl="1">
              <a:spcBef>
                <a:spcPts val="600"/>
              </a:spcBef>
              <a:defRPr sz="1400" b="0">
                <a:solidFill>
                  <a:srgbClr val="666666"/>
                </a:solidFill>
                <a:latin typeface="Calibri"/>
              </a:defRPr>
            </a:pPr>
            <a:r>
              <a:t>All hyperparameters matched to original study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48640"/>
            <a:ext cx="731520" cy="731520"/>
          </a:xfrm>
          <a:prstGeom prst="ellipse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Evaluation Protocol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69848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Two parallel experiments: within-dataset reliability + cross-chemistry transfer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Calibri"/>
              </a:defRPr>
            </a:pP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Within-dataset: 5-fold GroupKFold by cell — no cell leaks across folds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Horizons: H ∈ {10, 20, 30, 50} — label positive if failure within [t, t+H)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Calibration: isotonic vs Platt (sigmoid) — best method selected per dataset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Metrics: AUC (discrimination) + Brier score (calibration + discrimination)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Cross-chemistry: train on all LCO, test on all LFP — 3 variants (NASA, CALCE, ALL)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Feature ablation: with SOH vs without SOH — to isolate SOH contribution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48640"/>
            <a:ext cx="731520" cy="731520"/>
          </a:xfrm>
          <a:prstGeom prst="ellipse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Finding 1: Within-Dataset AUC (H=20)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69848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01_Within_Dataset_A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1828800"/>
            <a:ext cx="9144000" cy="54894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48640"/>
            <a:ext cx="731520" cy="731520"/>
          </a:xfrm>
          <a:prstGeom prst="ellipse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Finding 2: Multi-Horizon Performance (NASA)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69848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05_MultiHorizon_A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1828800"/>
            <a:ext cx="9144000" cy="57758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48640"/>
            <a:ext cx="731520" cy="731520"/>
          </a:xfrm>
          <a:prstGeom prst="ellipse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Finding 3: Platt vs Isotonic — NASA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69848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02_Calibra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5943600" cy="20644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22860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E24A33"/>
                </a:solidFill>
                <a:latin typeface="Calibri"/>
              </a:defRPr>
            </a:pPr>
            <a:r>
              <a:t>NASA (left panel of Fig 2):</a:t>
            </a:r>
          </a:p>
          <a:p>
            <a:pPr algn="l">
              <a:spcBef>
                <a:spcPts val="1600"/>
              </a:spcBef>
              <a:defRPr sz="2000" b="1">
                <a:solidFill>
                  <a:srgbClr val="1A1A2E"/>
                </a:solidFill>
                <a:latin typeface="Calibri"/>
              </a:defRPr>
            </a:pPr>
            <a:r>
              <a:t>Platt Brier: 0.197 vs Isotonic: 0.222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666666"/>
                </a:solidFill>
                <a:latin typeface="Calibri"/>
              </a:defRPr>
            </a:pPr>
            <a:r>
              <a:t>11% reduction — consistent across all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666666"/>
                </a:solidFill>
                <a:latin typeface="Calibri"/>
              </a:defRPr>
            </a:pPr>
            <a:r>
              <a:t>models and horizons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666666"/>
                </a:solidFill>
                <a:latin typeface="Calibri"/>
              </a:defRPr>
            </a:pPr>
            <a:r>
              <a:t>Improvement is real but modest. NASA's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666666"/>
                </a:solidFill>
                <a:latin typeface="Calibri"/>
              </a:defRPr>
            </a:pPr>
            <a:r>
              <a:t>smaller per-cell cycle count limits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666666"/>
                </a:solidFill>
                <a:latin typeface="Calibri"/>
              </a:defRPr>
            </a:pPr>
            <a:r>
              <a:t>the calibration gap.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1600" b="0">
                <a:solidFill>
                  <a:srgbClr val="1A1A2E"/>
                </a:solidFill>
                <a:latin typeface="Calibri"/>
              </a:defRPr>
            </a:pPr>
            <a:r>
              <a:t>XGBoost Platt Brier: 0.191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48640"/>
            <a:ext cx="731520" cy="731520"/>
          </a:xfrm>
          <a:prstGeom prst="ellipse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Finding 3: Platt vs Isotonic — CALCE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69848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02_Calibra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828800"/>
            <a:ext cx="5943600" cy="20644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22860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800" b="1">
                <a:solidFill>
                  <a:srgbClr val="E24A33"/>
                </a:solidFill>
                <a:latin typeface="Calibri"/>
              </a:defRPr>
            </a:pPr>
            <a:r>
              <a:t>CALCE (right panel of Fig 2):</a:t>
            </a:r>
          </a:p>
          <a:p>
            <a:pPr algn="l">
              <a:spcBef>
                <a:spcPts val="1600"/>
              </a:spcBef>
              <a:defRPr sz="2000" b="1">
                <a:solidFill>
                  <a:srgbClr val="1A1A2E"/>
                </a:solidFill>
                <a:latin typeface="Calibri"/>
              </a:defRPr>
            </a:pPr>
            <a:r>
              <a:t>Platt Brier: 0.069 vs Isotonic: 0.098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666666"/>
                </a:solidFill>
                <a:latin typeface="Calibri"/>
              </a:defRPr>
            </a:pPr>
            <a:r>
              <a:t>30% reduction — the headline result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666666"/>
                </a:solidFill>
                <a:latin typeface="Calibri"/>
              </a:defRPr>
            </a:pPr>
            <a:r>
              <a:t>Isotonic step function overcorrects on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666666"/>
                </a:solidFill>
                <a:latin typeface="Calibri"/>
              </a:defRPr>
            </a:pPr>
            <a:r>
              <a:t>CALCE's long-tailed SOH distribution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666666"/>
                </a:solidFill>
                <a:latin typeface="Calibri"/>
              </a:defRPr>
            </a:pPr>
            <a:r>
              <a:t>(8733 cycles, very slow degradation).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600" b="0">
                <a:solidFill>
                  <a:srgbClr val="666666"/>
                </a:solidFill>
                <a:latin typeface="Calibri"/>
              </a:defRPr>
            </a:pPr>
            <a:r>
              <a:t>Platt's sigmoid is more robust to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666666"/>
                </a:solidFill>
                <a:latin typeface="Calibri"/>
              </a:defRPr>
            </a:pPr>
            <a:r>
              <a:t>class imbalance and distribution skew.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1600" b="1">
                <a:solidFill>
                  <a:srgbClr val="1A1A2E"/>
                </a:solidFill>
                <a:latin typeface="Calibri"/>
              </a:defRPr>
            </a:pPr>
            <a:r>
              <a:t>Per-model Brier (Platt):</a:t>
            </a:r>
          </a:p>
          <a:p>
            <a:pPr algn="l">
              <a:spcBef>
                <a:spcPts val="600"/>
              </a:spcBef>
              <a:defRPr sz="1600" b="0">
                <a:solidFill>
                  <a:srgbClr val="1A1A2E"/>
                </a:solidFill>
                <a:latin typeface="Calibri"/>
              </a:defRPr>
            </a:pPr>
            <a:r>
              <a:t>XGB: 0.065  |  LGBM: 0.065  |  RF: 0.077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48640"/>
            <a:ext cx="731520" cy="731520"/>
          </a:xfrm>
          <a:prstGeom prst="ellipse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Finding 4a: Cross-Chemistry Transfer — With SOH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69848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03_CrossChem_With_SO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6858000" cy="37703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201168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800" b="1">
                <a:solidFill>
                  <a:srgbClr val="E24A33"/>
                </a:solidFill>
                <a:latin typeface="Calibri"/>
              </a:defRPr>
            </a:pPr>
            <a:r>
              <a:t>AUC 0.87–1.00</a:t>
            </a:r>
          </a:p>
          <a:p>
            <a:pPr algn="l">
              <a:spcBef>
                <a:spcPts val="1200"/>
              </a:spcBef>
              <a:defRPr sz="1600" b="0">
                <a:solidFill>
                  <a:srgbClr val="666666"/>
                </a:solidFill>
                <a:latin typeface="Calibri"/>
              </a:defRPr>
            </a:pPr>
            <a:r>
              <a:t>Looks like strong generalization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600" b="1">
                <a:solidFill>
                  <a:srgbClr val="1A1A2E"/>
                </a:solidFill>
                <a:latin typeface="Calibri"/>
              </a:defRPr>
            </a:pPr>
            <a:r>
              <a:t>NASA→LFP: 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666666"/>
                </a:solidFill>
                <a:latin typeface="Calibri"/>
              </a:defRPr>
            </a:pPr>
            <a:r>
              <a:t>0.95–1.00 (best)</a:t>
            </a:r>
          </a:p>
          <a:p>
            <a:pPr algn="l">
              <a:spcBef>
                <a:spcPts val="800"/>
              </a:spcBef>
              <a:defRPr sz="1600" b="1">
                <a:solidFill>
                  <a:srgbClr val="1A1A2E"/>
                </a:solidFill>
                <a:latin typeface="Calibri"/>
              </a:defRPr>
            </a:pPr>
            <a:r>
              <a:t>CALCE→LFP: 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666666"/>
                </a:solidFill>
                <a:latin typeface="Calibri"/>
              </a:defRPr>
            </a:pPr>
            <a:r>
              <a:t>0.70–0.93 (weakest)</a:t>
            </a:r>
          </a:p>
          <a:p>
            <a:pPr algn="l">
              <a:spcBef>
                <a:spcPts val="800"/>
              </a:spcBef>
              <a:defRPr sz="1600" b="1">
                <a:solidFill>
                  <a:srgbClr val="1A1A2E"/>
                </a:solidFill>
                <a:latin typeface="Calibri"/>
              </a:defRPr>
            </a:pPr>
            <a:r>
              <a:t>ALL→LFP: 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666666"/>
                </a:solidFill>
                <a:latin typeface="Calibri"/>
              </a:defRPr>
            </a:pPr>
            <a:r>
              <a:t>0.94–0.99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1600" b="1">
                <a:solidFill>
                  <a:srgbClr val="E24A33"/>
                </a:solidFill>
                <a:latin typeface="Calibri"/>
              </a:defRPr>
            </a:pPr>
            <a:r>
              <a:t>BUT — this is misleading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666666"/>
                </a:solidFill>
                <a:latin typeface="Calibri"/>
              </a:defRPr>
            </a:pPr>
            <a:r>
              <a:t>See next slide for the real story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48640"/>
            <a:ext cx="731520" cy="731520"/>
          </a:xfrm>
          <a:prstGeom prst="ellipse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Finding 4b: Cross-Chemistry Transfer — Without SOH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69848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04_CrossChem_No_SO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6858000" cy="37078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201168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2800" b="1">
                <a:solidFill>
                  <a:srgbClr val="E24A33"/>
                </a:solidFill>
                <a:latin typeface="Calibri"/>
              </a:defRPr>
            </a:pPr>
            <a:r>
              <a:t>AUC 0.51–0.54</a:t>
            </a:r>
          </a:p>
          <a:p>
            <a:pPr algn="l">
              <a:spcBef>
                <a:spcPts val="1200"/>
              </a:spcBef>
              <a:defRPr sz="1600" b="0">
                <a:solidFill>
                  <a:srgbClr val="666666"/>
                </a:solidFill>
                <a:latin typeface="Calibri"/>
              </a:defRPr>
            </a:pPr>
            <a:r>
              <a:t>Near-random across all 9 combinations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Bef>
                <a:spcPts val="600"/>
              </a:spcBef>
              <a:defRPr sz="1600" b="1">
                <a:solidFill>
                  <a:srgbClr val="1A1A2E"/>
                </a:solidFill>
                <a:latin typeface="Calibri"/>
              </a:defRPr>
            </a:pPr>
            <a:r>
              <a:t>NASA→LFP: 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666666"/>
                </a:solidFill>
                <a:latin typeface="Calibri"/>
              </a:defRPr>
            </a:pPr>
            <a:r>
              <a:t>0.508–0.541</a:t>
            </a:r>
          </a:p>
          <a:p>
            <a:pPr algn="l">
              <a:spcBef>
                <a:spcPts val="800"/>
              </a:spcBef>
              <a:defRPr sz="1600" b="1">
                <a:solidFill>
                  <a:srgbClr val="1A1A2E"/>
                </a:solidFill>
                <a:latin typeface="Calibri"/>
              </a:defRPr>
            </a:pPr>
            <a:r>
              <a:t>CALCE→LFP: 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666666"/>
                </a:solidFill>
                <a:latin typeface="Calibri"/>
              </a:defRPr>
            </a:pPr>
            <a:r>
              <a:t>0.510–0.514</a:t>
            </a:r>
          </a:p>
          <a:p>
            <a:pPr algn="l">
              <a:spcBef>
                <a:spcPts val="800"/>
              </a:spcBef>
              <a:defRPr sz="1600" b="1">
                <a:solidFill>
                  <a:srgbClr val="1A1A2E"/>
                </a:solidFill>
                <a:latin typeface="Calibri"/>
              </a:defRPr>
            </a:pPr>
            <a:r>
              <a:t>ALL→LFP: </a:t>
            </a:r>
          </a:p>
          <a:p>
            <a:pPr algn="l">
              <a:spcBef>
                <a:spcPts val="200"/>
              </a:spcBef>
              <a:defRPr sz="1600" b="0">
                <a:solidFill>
                  <a:srgbClr val="666666"/>
                </a:solidFill>
                <a:latin typeface="Calibri"/>
              </a:defRPr>
            </a:pPr>
            <a:r>
              <a:t>0.510–0.512</a:t>
            </a:r>
          </a:p>
          <a:p>
            <a:pPr algn="l">
              <a:spcBef>
                <a:spcPts val="600"/>
              </a:spcBef>
              <a:defRPr sz="1000" b="0">
                <a:solidFill>
                  <a:srgbClr val="1A1A2E"/>
                </a:solidFill>
                <a:latin typeface="Calibri"/>
              </a:defRPr>
            </a:pPr>
          </a:p>
          <a:p>
            <a:pPr algn="l">
              <a:spcBef>
                <a:spcPts val="1200"/>
              </a:spcBef>
              <a:defRPr sz="1600" b="1">
                <a:solidFill>
                  <a:srgbClr val="E24A33"/>
                </a:solidFill>
                <a:latin typeface="Calibri"/>
              </a:defRPr>
            </a:pPr>
            <a:r>
              <a:t>The SOH feature alone was driving</a:t>
            </a:r>
          </a:p>
          <a:p>
            <a:pPr algn="l">
              <a:spcBef>
                <a:spcPts val="600"/>
              </a:spcBef>
              <a:defRPr sz="1600" b="1">
                <a:solidFill>
                  <a:srgbClr val="E24A33"/>
                </a:solidFill>
                <a:latin typeface="Calibri"/>
              </a:defRPr>
            </a:pPr>
            <a:r>
              <a:t>all apparent cross-chemistry transfer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48640"/>
            <a:ext cx="731520" cy="731520"/>
          </a:xfrm>
          <a:prstGeom prst="ellipse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Why? The SOH-as-Lookup-Table Mechanism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69848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2E"/>
                </a:solidFill>
                <a:latin typeface="Calibri"/>
              </a:defRPr>
            </a:pPr>
            <a:r>
              <a:t>When SOH is available as a feature:</a:t>
            </a:r>
            <a:br/>
            <a:br/>
            <a:r>
              <a:t>• Model learns: SOH=0.85 means ~50 cycles to failure</a:t>
            </a:r>
            <a:br/>
            <a:r>
              <a:t>  from LCO training data</a:t>
            </a:r>
            <a:br/>
            <a:br/>
            <a:r>
              <a:t>• LFP cells traverse similar SOH trajectories</a:t>
            </a:r>
            <a:br/>
            <a:br/>
            <a:r>
              <a:t>• Model applies the same learned mapping — predictions correlate with SOH, not with LFP-specific degradation</a:t>
            </a:r>
            <a:br/>
            <a:br/>
            <a:r>
              <a:t>• Result: high AUC, but no actual chemistry transfer</a:t>
            </a:r>
            <a:br/>
            <a:br/>
            <a:r>
              <a:t>When SOH is removed: voltage/current/temperature</a:t>
            </a:r>
            <a:br/>
            <a:r>
              <a:t>patterns alone carry no transferable signal LCO→LFP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11680"/>
            <a:ext cx="5029200" cy="2743200"/>
          </a:xfrm>
          <a:prstGeom prst="round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3000"/>
              </a:spcBef>
              <a:defRPr sz="2000" b="1">
                <a:solidFill>
                  <a:srgbClr val="E24A33"/>
                </a:solidFill>
                <a:latin typeface="Calibri"/>
              </a:defRPr>
            </a:pPr>
            <a:r>
              <a:t>SOH is not a transferable feature —</a:t>
            </a:r>
            <a:br/>
            <a:r>
              <a:t>it is a chemistry-specific</a:t>
            </a:r>
            <a:br/>
            <a:r>
              <a:t>capacity-to-RUL lookup table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48640"/>
            <a:ext cx="731520" cy="731520"/>
          </a:xfrm>
          <a:prstGeom prst="ellipse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Key Takeaway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69848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011680"/>
            <a:ext cx="10332720" cy="2560320"/>
          </a:xfrm>
          <a:prstGeom prst="round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0"/>
              </a:spcBef>
              <a:defRPr sz="2800" b="1">
                <a:solidFill>
                  <a:srgbClr val="E24A33"/>
                </a:solidFill>
                <a:latin typeface="Calibri"/>
              </a:defRPr>
            </a:pPr>
            <a:r>
              <a:t>Cross-chemistry transfer of hazard-based battery</a:t>
            </a:r>
            <a:br/>
            <a:r>
              <a:t>failure prediction remains an open problem.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Calibri"/>
              </a:defRPr>
            </a:pPr>
            <a:r>
              <a:t>Within-dataset reliability is strong (AUC ≥ 0.85). But practitioners should not expect LCO-trained hazard models to generalize to LFP without chemistry-specific retraining or domain adaptation.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48640"/>
            <a:ext cx="731520" cy="731520"/>
          </a:xfrm>
          <a:prstGeom prst="ellipse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69848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Calibri"/>
              </a:defRPr>
            </a:pP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Oxford LFP: only 5 cells — insufficient for within-dataset evaluation (AUC ≈ 1.0 trivially)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Cross-chemistry: unidirectional only (LCO→LFP); may not generalize to LCO→NMC, NMC→LFP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Model scope: tree-based only — deep learning may capture more transferable features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Brier gap with published paper: published Brier 0.032 vs reproducible 0.17–0.26 (noted in discrepancy note)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Voltage sag feature dead for LFP: always at 2.7 V cutoff — no useful signal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48640"/>
            <a:ext cx="731520" cy="731520"/>
          </a:xfrm>
          <a:prstGeom prst="ellipse">
            <a:avLst/>
          </a:prstGeom>
          <a:solidFill>
            <a:srgbClr val="E24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defRPr sz="2800" b="1">
                <a:solidFill>
                  <a:srgbClr val="FFFFFF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594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1069848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A1A2E"/>
                </a:solidFill>
                <a:latin typeface="Calibri"/>
              </a:defRPr>
            </a:pP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Train on larger multi-chemistry datasets with balanced cell counts across chemistries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Develop learned feature representations designed explicitly for chemistry invariance (e.g., domain-adversarial training)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Bidirectional transfer evaluation: LCO↔NMC, NMC↔LFP, LCO↔LFP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Deep learning approaches (LSTM, transformers) with learned health indices</a:t>
            </a:r>
          </a:p>
          <a:p>
            <a:pPr algn="l" lvl="1">
              <a:spcBef>
                <a:spcPts val="800"/>
              </a:spcBef>
              <a:defRPr sz="1800" b="0">
                <a:solidFill>
                  <a:srgbClr val="1A1A2E"/>
                </a:solidFill>
                <a:latin typeface="Calibri"/>
              </a:defRPr>
            </a:pPr>
            <a:r>
              <a:t>Reproduce and close the Brier gap with the published paper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